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05426" y="1847850"/>
            <a:ext cx="918114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Minimum Spanning Trees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05125" y="3048000"/>
            <a:ext cx="638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Implementation &amp; Comparison of Prim's vs. Kruskal's Algorithms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33750" y="405765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CPCS 324: Algorithms and Data Structures (II) - Group Project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333750" y="45339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Abdelrahman Soliman (2343174) | Sultan Yasir Alasami (2339663)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95612" y="2595562"/>
            <a:ext cx="62007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Project Introduction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619750" y="3929062"/>
            <a:ext cx="952500" cy="47625"/>
          </a:xfrm>
          <a:prstGeom prst="rect">
            <a:avLst/>
          </a:prstGeom>
          <a:solidFill>
            <a:srgbClr val="A8E0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002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170021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Project Objective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34791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The goal is to design an efficient water distribution network, connecting multiple junctions (stations, tanks) with the minimum possible construction cost.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3395662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The network is modeled as an undirected, weighted graph.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411003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Vertices: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Represent the water junctions (e.g., J1, J2).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453866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Edges: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Represent potential pipeline connections.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496728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Weights: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Represent the construction cost of each pipeline.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5395912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Solution: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Find the </a:t>
            </a: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Minimum Spanning Tree (MST)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to connect all junctions with the lowest total cost.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097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33956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E063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41100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E063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45386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E063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9672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E063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3959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E063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The Water Network Problem</a:t>
            </a:r>
            <a:endParaRPr/>
          </a:p>
        </p:txBody>
      </p:sp>
      <p:pic>
        <p:nvPicPr>
          <p:cNvPr id="3" name="Picture 2" descr="A diagram of a constellation&#10;&#10;AI-generated content may be incorrect.">
            <a:extLst>
              <a:ext uri="{FF2B5EF4-FFF2-40B4-BE49-F238E27FC236}">
                <a16:creationId xmlns:a16="http://schemas.microsoft.com/office/drawing/2014/main" id="{6AC2B083-FCC0-83A4-2347-16E4FA5A4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2193" y="1578283"/>
            <a:ext cx="5852172" cy="43891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71650"/>
            <a:ext cx="5286375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71650"/>
            <a:ext cx="52863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962025" y="2162175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Prim's Algorithm (Min-Heap)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32670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Prim's is a "tree-growing" algorithm. It starts from an arbitrary source vertex and progressively "grows" the MST.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62025" y="4314825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In each step, it adds the cheapest possible edge that connects a vertex *inside* the MST to a vertex *outside* the MST. We used a </a:t>
            </a: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Min-Heap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to efficiently find this cheapest edge.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2162175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Kruskal's Algorithm (Union-Find)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24650" y="32670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Kruskal's is a "forest-growing" algorithm. It starts with each vertex as its own separate tree (a "forest").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24650" y="4029075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It sorts all edges in the graph by weight. It then iterates through the sorted edges, adding an edge if and only if it connects two previously disconnected components. We used a </a:t>
            </a: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Union-Find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data structure to detect cycles.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Core Algorithms: The Greedy Approach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3895725" y="2438400"/>
            <a:ext cx="44005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Requirement 1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619750" y="3771900"/>
            <a:ext cx="952500" cy="47625"/>
          </a:xfrm>
          <a:prstGeom prst="rect">
            <a:avLst/>
          </a:prstGeom>
          <a:solidFill>
            <a:srgbClr val="A8E0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4124325" y="4105275"/>
            <a:ext cx="3943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Computing the MST for the Provided Graph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859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500" y="19859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Implementation &amp; Verification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26336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We first implemented `readGraphFromFile` to parse the `graph.txt` (6 Vertices, 15 Edges) as specified.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33956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Both algorithms were run on this graph to verify their correctness against the project's expected output.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50625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The identical results confirm our implementations are correct and successfully find the Minimum Spanning Tree.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57250" y="415766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Prim's Algorithm Result: Total = 29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57250" y="458628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Kruskal's Algorithm Result: Total = 29</a:t>
            </a:r>
            <a:endParaRPr/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954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41576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E063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45862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E063"/>
                </a:solidFill>
                <a:latin typeface="Lato"/>
                <a:ea typeface="Lato"/>
                <a:cs typeface="Lato"/>
                <a:sym typeface="Lato"/>
              </a:rPr>
              <a:t>✓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Requirement 1: Results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7BEE51-0822-CDA8-584E-4639B761D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8" y="716250"/>
            <a:ext cx="5762628" cy="59303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3840718" y="2438400"/>
            <a:ext cx="4510563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Requirement 2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619750" y="3771900"/>
            <a:ext cx="952500" cy="47625"/>
          </a:xfrm>
          <a:prstGeom prst="rect">
            <a:avLst/>
          </a:prstGeom>
          <a:solidFill>
            <a:srgbClr val="A8E0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567112" y="4105275"/>
            <a:ext cx="50577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Random Graph Generation &amp; Experimental Comparison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805815" y="2919412"/>
            <a:ext cx="29603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Graph Generation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66775" y="36909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We built a `make_graph(n, m)` function. To guarantee connectivity, it first builds a random spanning tree using Union-Find, then adds the remaining edges.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0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Time Measurement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676775" y="41481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Runtime was measured in milliseconds (ms) using `time.perf_counter()`. We averaged the results over 3 runs for each graph size to reduce variance.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41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Graph Sizes Tested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486775" y="41481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We tested 7 combinations of vertices (n) and edges (m), with n up to 10,000 and m up to 25,000, as specified in the project.</a:t>
            </a:r>
            <a:endParaRPr/>
          </a:p>
        </p:txBody>
      </p:sp>
      <p:pic>
        <p:nvPicPr>
          <p:cNvPr id="178" name="Google Shape;17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2240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224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8825" y="22240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Requirement 2: Experimental Setup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757362" y="5852814"/>
            <a:ext cx="86772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Prim's Was Faster in Most Cases, Especially on Denser Graphs</a:t>
            </a:r>
            <a:endParaRPr lang="en-US" dirty="0"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52893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Requirement 2: Experimental Results (Time in ms)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DF455-6AB1-6822-D43B-33FF80B4D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62" y="1348655"/>
            <a:ext cx="10632874" cy="41606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609725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2286000" y="1562100"/>
            <a:ext cx="80962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Performance Analysis</a:t>
            </a:r>
            <a:r>
              <a:rPr lang="en-US" sz="1500" b="0" i="0" u="none" strike="noStrike" cap="none" dirty="0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Performance Analysis: Prim's (O(E log V)) outperformed Kruskal's (O(E log E)) in most tests, but Kruskal's was faster on the 10k/15k sparse graph.</a:t>
            </a:r>
            <a:endParaRPr dirty="0"/>
          </a:p>
        </p:txBody>
      </p:sp>
      <p:pic>
        <p:nvPicPr>
          <p:cNvPr id="197" name="Google Shape;19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781300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2286000" y="2733675"/>
            <a:ext cx="80962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UML Compliance</a:t>
            </a:r>
            <a:r>
              <a:rPr lang="en-US" sz="1500" b="0" i="0" u="none" strike="noStrike" cap="none" dirty="0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A key challenge was refactoring the code to strictly follow the UML diagram, implementing `Junction` and `Pipe` classes inheriting from `Vertex` and `Edge`.</a:t>
            </a:r>
            <a:endParaRPr dirty="0"/>
          </a:p>
        </p:txBody>
      </p:sp>
      <p:pic>
        <p:nvPicPr>
          <p:cNvPr id="199" name="Google Shape;19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52875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2286000" y="3905250"/>
            <a:ext cx="80962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Ensuring Connectivity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Our `make_graph` function had to guarantee a connected graph. We solved this by first building a random spanning tree using Union-Find before adding extra edges.</a:t>
            </a:r>
            <a:endParaRPr/>
          </a:p>
        </p:txBody>
      </p:sp>
      <p:pic>
        <p:nvPicPr>
          <p:cNvPr id="201" name="Google Shape;20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5124450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2286000" y="5076825"/>
            <a:ext cx="80962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Handling Duplicates</a:t>
            </a:r>
            <a:r>
              <a:rPr lang="en-US" sz="150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 To prevent errors in Kruskal's algorithm and the graph generator, we used a `set` to track unique edge pairs (e.g., (min_label, max_label)) to avoid duplicates.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Analysis &amp; Key Challenges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4330779" y="2124075"/>
            <a:ext cx="353044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7FAFC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5619750" y="3457575"/>
            <a:ext cx="952500" cy="47625"/>
          </a:xfrm>
          <a:prstGeom prst="rect">
            <a:avLst/>
          </a:prstGeom>
          <a:solidFill>
            <a:srgbClr val="A8E0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2762250" y="3790950"/>
            <a:ext cx="66675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0"/>
                </a:solidFill>
                <a:latin typeface="Lato"/>
                <a:ea typeface="Lato"/>
                <a:cs typeface="Lato"/>
                <a:sym typeface="Lato"/>
              </a:rPr>
              <a:t>Both algorithms successfully solve the MST problem. Prim's (Min-Heap) is demonstrably faster for dense networks, making it a better choice for this scenario.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295275" y="235743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A8E063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571500" y="3786187"/>
            <a:ext cx="11049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7FAFC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694</Words>
  <Application>Microsoft Office PowerPoint</Application>
  <PresentationFormat>Widescreen</PresentationFormat>
  <Paragraphs>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Poppins</vt:lpstr>
      <vt:lpstr>Lato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BOHK-WAX9X</cp:lastModifiedBy>
  <cp:revision>3</cp:revision>
  <dcterms:modified xsi:type="dcterms:W3CDTF">2025-11-15T17:26:34Z</dcterms:modified>
</cp:coreProperties>
</file>